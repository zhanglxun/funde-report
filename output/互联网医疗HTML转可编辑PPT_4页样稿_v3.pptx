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94"/>
  </p:normalViewPr>
  <p:slideViewPr>
    <p:cSldViewPr snapToGrid="0">
      <p:cViewPr varScale="1">
        <p:scale>
          <a:sx n="92" d="100"/>
          <a:sy n="92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样稿对应原 HTML 第 1 页。文字、标签、背景装饰均为可编辑 PowerPoint 对象；右侧原始插画作为独立图片对象保留。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样稿对应原 HTML 第 7 页。四张规模卡片和竞争格局表格均已重建为 PowerPoint 原生可编辑对象。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样稿对应原</a:t>
            </a:r>
            <a:r>
              <a:rPr dirty="0"/>
              <a:t> HTML </a:t>
            </a:r>
            <a:r>
              <a:rPr dirty="0" err="1"/>
              <a:t>第</a:t>
            </a:r>
            <a:r>
              <a:rPr dirty="0"/>
              <a:t> 39 </a:t>
            </a:r>
            <a:r>
              <a:rPr dirty="0" err="1"/>
              <a:t>页。三段框架、资源分组、箭头与底部链路全部为</a:t>
            </a:r>
            <a:r>
              <a:rPr dirty="0"/>
              <a:t> PowerPoint </a:t>
            </a:r>
            <a:r>
              <a:rPr dirty="0" err="1"/>
              <a:t>原生对象，可逐项改字、改色和调整位置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7934E6-A81A-4E1F-B28F-5CFFE9463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19C74DE-20CA-4D89-A57F-31FE7FC73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B96B9CF-CF5F-4921-9957-48D7E1814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D327BE-119E-42D3-8E64-8479F681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2237D6A-4947-483B-A7D4-B188ED1C0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69EEC1A-88F1-42ED-9C9E-BE3107C8A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75ED12-99A4-46A6-BB02-2E0B2AB2C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3F57DE8-E91E-45FF-B070-9C4704EDC6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1EECF2-DE6A-42AA-AEAB-B4C51FAD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45D5F5D-2607-4C46-AA32-E079B1DC7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1E2"/>
            </a:gs>
            <a:gs pos="58000">
              <a:srgbClr val="F4E9DA"/>
            </a:gs>
            <a:gs pos="100000">
              <a:srgbClr val="EADBC4"/>
            </a:gs>
          </a:gsLst>
          <a:path path="shap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DEB85298-E588-4ED2-9C05-210013170763}"/>
              </a:ext>
            </a:extLst>
          </p:cNvPr>
          <p:cNvSpPr>
            <a:spLocks noGrp="1"/>
          </p:cNvSpPr>
          <p:nvPr/>
        </p:nvSpPr>
        <p:spPr>
          <a:xfrm>
            <a:off x="13620750" y="0"/>
            <a:ext cx="4667250" cy="5238750"/>
          </a:xfrm>
          <a:prstGeom prst="ellipse">
            <a:avLst/>
          </a:prstGeom>
          <a:solidFill>
            <a:srgbClr val="F8E7D4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98E6894-9DD3-4023-B90D-7FD0F8587C94}"/>
              </a:ext>
            </a:extLst>
          </p:cNvPr>
          <p:cNvSpPr>
            <a:spLocks noGrp="1"/>
          </p:cNvSpPr>
          <p:nvPr/>
        </p:nvSpPr>
        <p:spPr>
          <a:xfrm>
            <a:off x="12239625" y="5810250"/>
            <a:ext cx="5334000" cy="4476750"/>
          </a:xfrm>
          <a:prstGeom prst="ellipse">
            <a:avLst/>
          </a:prstGeom>
          <a:solidFill>
            <a:srgbClr val="E9D3BA">
              <a:alpha val="4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B6E4AE-D1D6-43A7-BDE8-82FEF54B21B1}"/>
              </a:ext>
            </a:extLst>
          </p:cNvPr>
          <p:cNvSpPr>
            <a:spLocks noGrp="1"/>
          </p:cNvSpPr>
          <p:nvPr/>
        </p:nvSpPr>
        <p:spPr>
          <a:xfrm>
            <a:off x="952500" y="1257300"/>
            <a:ext cx="1123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25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rPr>
              <a:t>富德联好健康　·　</a:t>
            </a:r>
            <a:r>
              <a:rPr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rPr>
              <a:t>平台格局、商业模式与产品设计的启示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688F26-7987-4454-B38A-652F824E4906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10668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80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780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t>互联网医疗行业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982B64-A42B-46F3-B43B-126536C72BC9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0668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8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78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调研分析报告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B2985C-2665-4EF0-BB82-911D18FBFB47}"/>
              </a:ext>
            </a:extLst>
          </p:cNvPr>
          <p:cNvSpPr>
            <a:spLocks noGrp="1"/>
          </p:cNvSpPr>
          <p:nvPr/>
        </p:nvSpPr>
        <p:spPr>
          <a:xfrm>
            <a:off x="952500" y="5286375"/>
            <a:ext cx="10287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278"/>
          </a:bodyPr>
          <a:lstStyle>
            <a:defPPr algn="l">
              <a:defRPr sz="300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00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从产业链背景、宏观趋势到平安、微医、京东、阿里，</a:t>
            </a:r>
          </a:p>
          <a:p>
            <a:pPr algn="l">
              <a:defRPr sz="300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天使医生、联合健康六家平台的深度画像，分析管理式医疗的竞争逻辑。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7BBAE0-40A6-42B7-9ECF-498912591746}"/>
              </a:ext>
            </a:extLst>
          </p:cNvPr>
          <p:cNvSpPr>
            <a:spLocks noGrp="1"/>
          </p:cNvSpPr>
          <p:nvPr/>
        </p:nvSpPr>
        <p:spPr>
          <a:xfrm>
            <a:off x="952500" y="7334250"/>
            <a:ext cx="3714750" cy="628650"/>
          </a:xfrm>
          <a:prstGeom prst="roundRect">
            <a:avLst>
              <a:gd name="adj" fmla="val 50000"/>
            </a:avLst>
          </a:prstGeom>
          <a:solidFill>
            <a:srgbClr val="FBF6EE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A08AAC-F00B-47E3-8B47-8C2631860ECC}"/>
              </a:ext>
            </a:extLst>
          </p:cNvPr>
          <p:cNvSpPr>
            <a:spLocks noGrp="1"/>
          </p:cNvSpPr>
          <p:nvPr/>
        </p:nvSpPr>
        <p:spPr>
          <a:xfrm>
            <a:off x="1181100" y="7372350"/>
            <a:ext cx="3257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950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rPr>
              <a:t>① </a:t>
            </a:r>
            <a:r>
              <a:rPr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rPr>
              <a:t>产业链与行业格局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AE6382-E955-48AE-A8BE-1A7316DB2A70}"/>
              </a:ext>
            </a:extLst>
          </p:cNvPr>
          <p:cNvSpPr>
            <a:spLocks noGrp="1"/>
          </p:cNvSpPr>
          <p:nvPr/>
        </p:nvSpPr>
        <p:spPr>
          <a:xfrm>
            <a:off x="4857750" y="7334250"/>
            <a:ext cx="3905250" cy="628650"/>
          </a:xfrm>
          <a:prstGeom prst="roundRect">
            <a:avLst>
              <a:gd name="adj" fmla="val 50000"/>
            </a:avLst>
          </a:prstGeom>
          <a:solidFill>
            <a:srgbClr val="FBF6EE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5F970-80BD-4EAF-93BE-CC6F1E4202E7}"/>
              </a:ext>
            </a:extLst>
          </p:cNvPr>
          <p:cNvSpPr>
            <a:spLocks noGrp="1"/>
          </p:cNvSpPr>
          <p:nvPr/>
        </p:nvSpPr>
        <p:spPr>
          <a:xfrm>
            <a:off x="5086350" y="7372350"/>
            <a:ext cx="3448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950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rPr>
              <a:t>② </a:t>
            </a:r>
            <a:r>
              <a:rPr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rPr>
              <a:t>互联网医疗二十年简史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3CC210B-8DAC-4C14-B97B-BC78A8F5B93E}"/>
              </a:ext>
            </a:extLst>
          </p:cNvPr>
          <p:cNvSpPr>
            <a:spLocks noGrp="1"/>
          </p:cNvSpPr>
          <p:nvPr/>
        </p:nvSpPr>
        <p:spPr>
          <a:xfrm>
            <a:off x="8953500" y="7334250"/>
            <a:ext cx="4476750" cy="628650"/>
          </a:xfrm>
          <a:prstGeom prst="roundRect">
            <a:avLst>
              <a:gd name="adj" fmla="val 50000"/>
            </a:avLst>
          </a:prstGeom>
          <a:solidFill>
            <a:srgbClr val="FBF6EE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B6A267-9BF1-46F9-B38F-13B0872A04E9}"/>
              </a:ext>
            </a:extLst>
          </p:cNvPr>
          <p:cNvSpPr>
            <a:spLocks noGrp="1"/>
          </p:cNvSpPr>
          <p:nvPr/>
        </p:nvSpPr>
        <p:spPr>
          <a:xfrm>
            <a:off x="9182100" y="7372350"/>
            <a:ext cx="4019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50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950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rPr>
              <a:t>③ </a:t>
            </a:r>
            <a:r>
              <a:rPr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rPr>
              <a:t>六家平台、三条路径的深度画像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5F6A9B8-19FA-4BC4-825E-0B2E57C4F727}"/>
              </a:ext>
            </a:extLst>
          </p:cNvPr>
          <p:cNvSpPr>
            <a:spLocks noGrp="1"/>
          </p:cNvSpPr>
          <p:nvPr/>
        </p:nvSpPr>
        <p:spPr>
          <a:xfrm>
            <a:off x="13668375" y="685800"/>
            <a:ext cx="3667125" cy="8763000"/>
          </a:xfrm>
          <a:prstGeom prst="roundRect">
            <a:avLst>
              <a:gd name="adj" fmla="val 7273"/>
            </a:avLst>
          </a:prstGeom>
          <a:solidFill>
            <a:srgbClr val="FBF6EE">
              <a:alpha val="74000"/>
            </a:srgbClr>
          </a:solidFill>
          <a:ln w="9525">
            <a:solidFill>
              <a:srgbClr val="E8D8C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69629D-BAC9-4B75-B0A8-0ABEB3970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63625" y="2457180"/>
            <a:ext cx="3476625" cy="5182139"/>
          </a:xfrm>
          <a:prstGeom prst="roundRect">
            <a:avLst>
              <a:gd name="adj" fmla="val 6575"/>
            </a:avLst>
          </a:prstGeom>
        </p:spPr>
      </p:pic>
    </p:spTree>
    <p:extLst>
      <p:ext uri="{BB962C8B-B14F-4D97-AF65-F5344CB8AC3E}">
        <p14:creationId xmlns:p14="http://schemas.microsoft.com/office/powerpoint/2010/main" val="204407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7577F9B-D018-491B-8F08-7CE238852DF3}"/>
              </a:ext>
            </a:extLst>
          </p:cNvPr>
          <p:cNvSpPr>
            <a:spLocks noGrp="1"/>
          </p:cNvSpPr>
          <p:nvPr/>
        </p:nvSpPr>
        <p:spPr>
          <a:xfrm>
            <a:off x="952500" y="609600"/>
            <a:ext cx="361950" cy="38100"/>
          </a:xfrm>
          <a:prstGeom prst="roundRect">
            <a:avLst>
              <a:gd name="adj" fmla="val 50000"/>
            </a:avLst>
          </a:prstGeom>
          <a:solidFill>
            <a:srgbClr val="E0742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ACFD32-78BD-48D4-A7DC-D9EE0D6C9358}"/>
              </a:ext>
            </a:extLst>
          </p:cNvPr>
          <p:cNvSpPr>
            <a:spLocks noGrp="1"/>
          </p:cNvSpPr>
          <p:nvPr/>
        </p:nvSpPr>
        <p:spPr>
          <a:xfrm>
            <a:off x="1447800" y="457200"/>
            <a:ext cx="1428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中国HMO（健康管理组织）市场规模与竞争格局速览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409D81-C3EC-4EBC-A646-04C2BDF2BD26}"/>
              </a:ext>
            </a:extLst>
          </p:cNvPr>
          <p:cNvSpPr>
            <a:spLocks noGrp="1"/>
          </p:cNvSpPr>
          <p:nvPr/>
        </p:nvSpPr>
        <p:spPr>
          <a:xfrm>
            <a:off x="952500" y="914400"/>
            <a:ext cx="1638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5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75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rPr>
              <a:t>市场仍在百亿美元级爆发增长，但</a:t>
            </a:r>
            <a:r>
              <a:rPr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rPr>
              <a:t>五大阵营同台竞争、护城河尚未验证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E163EF-0EAA-4815-B95C-B7804D99F2CB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80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t>机会有多大：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95C390-CB7C-489E-B914-CB132EAAF4AF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3924300" cy="1504950"/>
          </a:xfrm>
          <a:prstGeom prst="roundRect">
            <a:avLst>
              <a:gd name="adj" fmla="val 11392"/>
            </a:avLst>
          </a:prstGeom>
          <a:solidFill>
            <a:srgbClr val="E0742F"/>
          </a:solidFill>
          <a:ln w="9525">
            <a:solidFill>
              <a:srgbClr val="C75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F27418-D8DF-4B3C-990F-B6F93D1C29E8}"/>
              </a:ext>
            </a:extLst>
          </p:cNvPr>
          <p:cNvSpPr>
            <a:spLocks noGrp="1"/>
          </p:cNvSpPr>
          <p:nvPr/>
        </p:nvSpPr>
        <p:spPr>
          <a:xfrm>
            <a:off x="1181100" y="2762250"/>
            <a:ext cx="3467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t>100.9亿$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D0C760-C194-4126-8915-577A632070A6}"/>
              </a:ext>
            </a:extLst>
          </p:cNvPr>
          <p:cNvSpPr>
            <a:spLocks noGrp="1"/>
          </p:cNvSpPr>
          <p:nvPr/>
        </p:nvSpPr>
        <p:spPr>
          <a:xfrm>
            <a:off x="1181100" y="3333750"/>
            <a:ext cx="3467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FFEA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575" b="1">
                <a:solidFill>
                  <a:srgbClr val="FFEAD9"/>
                </a:solidFill>
                <a:latin typeface="Hiragino Sans GB"/>
                <a:ea typeface="Hiragino Sans GB"/>
                <a:cs typeface="Hiragino Sans GB"/>
              </a:defRPr>
            </a:pPr>
            <a:r>
              <a:t>2025年中国HMO保险市场规模</a:t>
            </a:r>
          </a:p>
          <a:p>
            <a:pPr algn="l">
              <a:defRPr sz="1575" b="1">
                <a:solidFill>
                  <a:srgbClr val="FFEAD9"/>
                </a:solidFill>
                <a:latin typeface="Hiragino Sans GB"/>
                <a:ea typeface="Hiragino Sans GB"/>
                <a:cs typeface="Hiragino Sans GB"/>
              </a:defRPr>
            </a:pPr>
            <a:r>
              <a:t>2026–2033 CAGR 12.52%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92B2666-4C31-43B2-A167-1DF9B420A7F0}"/>
              </a:ext>
            </a:extLst>
          </p:cNvPr>
          <p:cNvSpPr>
            <a:spLocks noGrp="1"/>
          </p:cNvSpPr>
          <p:nvPr/>
        </p:nvSpPr>
        <p:spPr>
          <a:xfrm>
            <a:off x="5105400" y="2590800"/>
            <a:ext cx="3924300" cy="1504950"/>
          </a:xfrm>
          <a:prstGeom prst="roundRect">
            <a:avLst>
              <a:gd name="adj" fmla="val 11392"/>
            </a:avLst>
          </a:prstGeom>
          <a:solidFill>
            <a:srgbClr val="FBF6EE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373BEC-B1E8-4955-A180-FD1D6367B5E9}"/>
              </a:ext>
            </a:extLst>
          </p:cNvPr>
          <p:cNvSpPr>
            <a:spLocks noGrp="1"/>
          </p:cNvSpPr>
          <p:nvPr/>
        </p:nvSpPr>
        <p:spPr>
          <a:xfrm>
            <a:off x="5334000" y="2762250"/>
            <a:ext cx="3467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3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3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41→210亿$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594ED8-5840-493E-9266-2D0E543C176F}"/>
              </a:ext>
            </a:extLst>
          </p:cNvPr>
          <p:cNvSpPr>
            <a:spLocks noGrp="1"/>
          </p:cNvSpPr>
          <p:nvPr/>
        </p:nvSpPr>
        <p:spPr>
          <a:xfrm>
            <a:off x="5334000" y="3333750"/>
            <a:ext cx="3467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575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中国人口健康管理市场</a:t>
            </a:r>
          </a:p>
          <a:p>
            <a:pPr algn="l">
              <a:defRPr sz="1575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2025→2033预测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19686EC-9D9C-4C21-A399-15C9BAF01703}"/>
              </a:ext>
            </a:extLst>
          </p:cNvPr>
          <p:cNvSpPr>
            <a:spLocks noGrp="1"/>
          </p:cNvSpPr>
          <p:nvPr/>
        </p:nvSpPr>
        <p:spPr>
          <a:xfrm>
            <a:off x="9258300" y="2590800"/>
            <a:ext cx="3924300" cy="1504950"/>
          </a:xfrm>
          <a:prstGeom prst="roundRect">
            <a:avLst>
              <a:gd name="adj" fmla="val 11392"/>
            </a:avLst>
          </a:prstGeom>
          <a:solidFill>
            <a:srgbClr val="FBF6EE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4EB8C8-A785-4D19-8EA0-73717A6BDE3C}"/>
              </a:ext>
            </a:extLst>
          </p:cNvPr>
          <p:cNvSpPr>
            <a:spLocks noGrp="1"/>
          </p:cNvSpPr>
          <p:nvPr/>
        </p:nvSpPr>
        <p:spPr>
          <a:xfrm>
            <a:off x="9486900" y="2762250"/>
            <a:ext cx="3467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3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3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9973亿元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FCFDF6-A30C-405C-972B-155B82DFC2D1}"/>
              </a:ext>
            </a:extLst>
          </p:cNvPr>
          <p:cNvSpPr>
            <a:spLocks noGrp="1"/>
          </p:cNvSpPr>
          <p:nvPr/>
        </p:nvSpPr>
        <p:spPr>
          <a:xfrm>
            <a:off x="9486900" y="3333750"/>
            <a:ext cx="3467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575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2025商业健康险保费，占医疗总支付</a:t>
            </a:r>
          </a:p>
          <a:p>
            <a:pPr algn="l">
              <a:defRPr sz="1575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＜3%（美国约30%）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C934971-3CF5-40C1-87C6-EA0DB876751D}"/>
              </a:ext>
            </a:extLst>
          </p:cNvPr>
          <p:cNvSpPr>
            <a:spLocks noGrp="1"/>
          </p:cNvSpPr>
          <p:nvPr/>
        </p:nvSpPr>
        <p:spPr>
          <a:xfrm>
            <a:off x="13411200" y="2590800"/>
            <a:ext cx="3924300" cy="1504950"/>
          </a:xfrm>
          <a:prstGeom prst="roundRect">
            <a:avLst>
              <a:gd name="adj" fmla="val 11392"/>
            </a:avLst>
          </a:prstGeom>
          <a:solidFill>
            <a:srgbClr val="FBF6EE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7FA858-5DB6-4A81-BFCB-F6CB9500B4E4}"/>
              </a:ext>
            </a:extLst>
          </p:cNvPr>
          <p:cNvSpPr>
            <a:spLocks noGrp="1"/>
          </p:cNvSpPr>
          <p:nvPr/>
        </p:nvSpPr>
        <p:spPr>
          <a:xfrm>
            <a:off x="13639800" y="2762250"/>
            <a:ext cx="3467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3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3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10.03万亿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F9EECD-5E07-4A92-8FAF-31FA1BD8747C}"/>
              </a:ext>
            </a:extLst>
          </p:cNvPr>
          <p:cNvSpPr>
            <a:spLocks noGrp="1"/>
          </p:cNvSpPr>
          <p:nvPr/>
        </p:nvSpPr>
        <p:spPr>
          <a:xfrm>
            <a:off x="13639800" y="3333750"/>
            <a:ext cx="3467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575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2025大健康产业总规模</a:t>
            </a:r>
          </a:p>
          <a:p>
            <a:pPr algn="l">
              <a:defRPr sz="1575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养老产业8→30万亿元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46CDCE-065C-4806-BEE7-6D3FE61114A5}"/>
              </a:ext>
            </a:extLst>
          </p:cNvPr>
          <p:cNvSpPr>
            <a:spLocks noGrp="1"/>
          </p:cNvSpPr>
          <p:nvPr/>
        </p:nvSpPr>
        <p:spPr>
          <a:xfrm>
            <a:off x="952500" y="4362450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t>谁在抢这块市场：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5ECA316-AD27-4FB4-9C6E-6507DBFC0542}"/>
              </a:ext>
            </a:extLst>
          </p:cNvPr>
          <p:cNvGraphicFramePr/>
          <p:nvPr/>
        </p:nvGraphicFramePr>
        <p:xfrm>
          <a:off x="952500" y="4953000"/>
          <a:ext cx="16383000" cy="4495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6ECD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阵营</a:t>
                      </a:r>
                    </a:p>
                  </a:txBody>
                  <a:tcPr anchor="ctr">
                    <a:solidFill>
                      <a:srgbClr val="3329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6ECD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代表企业</a:t>
                      </a:r>
                    </a:p>
                  </a:txBody>
                  <a:tcPr anchor="ctr">
                    <a:solidFill>
                      <a:srgbClr val="3329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6ECD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优势</a:t>
                      </a:r>
                    </a:p>
                  </a:txBody>
                  <a:tcPr anchor="ctr">
                    <a:solidFill>
                      <a:srgbClr val="3329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6ECD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短板</a:t>
                      </a:r>
                    </a:p>
                  </a:txBody>
                  <a:tcPr anchor="ctr">
                    <a:solidFill>
                      <a:srgbClr val="332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3291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保险系HMO</a:t>
                      </a:r>
                    </a:p>
                  </a:txBody>
                  <a:tcPr anchor="ctr">
                    <a:solidFill>
                      <a:srgbClr val="F8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dirty="0" err="1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平安健康</a:t>
                      </a:r>
                      <a:endParaRPr sz="1725" b="0" dirty="0">
                        <a:solidFill>
                          <a:srgbClr val="5A4B3B"/>
                        </a:solidFill>
                        <a:latin typeface="Hiragino Sans GB"/>
                        <a:ea typeface="Hiragino Sans GB"/>
                        <a:cs typeface="Hiragino Sans GB"/>
                      </a:endParaRP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支付方天然协同，客户黏性高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依赖集团生态，外部拓展有限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3291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保险跟进者</a:t>
                      </a:r>
                    </a:p>
                  </a:txBody>
                  <a:tcPr anchor="ctr">
                    <a:solidFill>
                      <a:srgbClr val="F8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人保健康、国寿健康险、泰康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保险客户基数大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医疗服务能力积累较浅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3291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电商系平台</a:t>
                      </a:r>
                    </a:p>
                  </a:txBody>
                  <a:tcPr anchor="ctr">
                    <a:solidFill>
                      <a:srgbClr val="F8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京东健康、阿里健康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流量大、药品供应链强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缺乏保险支付闭环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3291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互联网医疗</a:t>
                      </a:r>
                    </a:p>
                  </a:txBody>
                  <a:tcPr anchor="ctr">
                    <a:solidFill>
                      <a:srgbClr val="F8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微医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医院资源丰富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盈利模式尚未完全跑通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3291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保险科技</a:t>
                      </a:r>
                    </a:p>
                  </a:txBody>
                  <a:tcPr anchor="ctr">
                    <a:solidFill>
                      <a:srgbClr val="F8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众安保险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技术灵活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生态规模有限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33291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医院/区域平台</a:t>
                      </a:r>
                    </a:p>
                  </a:txBody>
                  <a:tcPr anchor="ctr">
                    <a:solidFill>
                      <a:srgbClr val="F8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京柏医疗/天使医生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院内外一体化健管协同管理</a:t>
                      </a: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dirty="0" err="1">
                          <a:solidFill>
                            <a:srgbClr val="5A4B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跨区域复制和市场化能力有限</a:t>
                      </a:r>
                      <a:endParaRPr sz="1725" b="0" dirty="0">
                        <a:solidFill>
                          <a:srgbClr val="5A4B3B"/>
                        </a:solidFill>
                        <a:latin typeface="Hiragino Sans GB"/>
                        <a:ea typeface="Hiragino Sans GB"/>
                        <a:cs typeface="Hiragino Sans GB"/>
                      </a:endParaRPr>
                    </a:p>
                  </a:txBody>
                  <a:tcPr anchor="ctr">
                    <a:solidFill>
                      <a:srgbClr val="FB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7916F003-82CB-401B-867E-0A2A376F5FE6}"/>
              </a:ext>
            </a:extLst>
          </p:cNvPr>
          <p:cNvSpPr>
            <a:spLocks noGrp="1"/>
          </p:cNvSpPr>
          <p:nvPr/>
        </p:nvSpPr>
        <p:spPr>
          <a:xfrm>
            <a:off x="16649700" y="96964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800" b="1">
                <a:solidFill>
                  <a:srgbClr val="8B7A6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800" b="1">
                <a:solidFill>
                  <a:srgbClr val="8B7A66"/>
                </a:solidFill>
                <a:latin typeface="Hiragino Sans GB"/>
                <a:ea typeface="Hiragino Sans GB"/>
                <a:cs typeface="Hiragino Sans GB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74896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CB78623A-89A1-4D0A-A980-9587E0CC7F19}"/>
              </a:ext>
            </a:extLst>
          </p:cNvPr>
          <p:cNvSpPr>
            <a:spLocks noGrp="1"/>
          </p:cNvSpPr>
          <p:nvPr/>
        </p:nvSpPr>
        <p:spPr>
          <a:xfrm>
            <a:off x="952500" y="609600"/>
            <a:ext cx="361950" cy="38100"/>
          </a:xfrm>
          <a:prstGeom prst="roundRect">
            <a:avLst>
              <a:gd name="adj" fmla="val 50000"/>
            </a:avLst>
          </a:prstGeom>
          <a:solidFill>
            <a:srgbClr val="E0742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141BCC-89C2-49B8-83EA-39CA12865473}"/>
              </a:ext>
            </a:extLst>
          </p:cNvPr>
          <p:cNvSpPr>
            <a:spLocks noGrp="1"/>
          </p:cNvSpPr>
          <p:nvPr/>
        </p:nvSpPr>
        <p:spPr>
          <a:xfrm>
            <a:off x="1447800" y="457200"/>
            <a:ext cx="1428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平安11312全景图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8AD3D7-2F14-45F9-9E09-53A8233A2FB6}"/>
              </a:ext>
            </a:extLst>
          </p:cNvPr>
          <p:cNvSpPr>
            <a:spLocks noGrp="1"/>
          </p:cNvSpPr>
          <p:nvPr/>
        </p:nvSpPr>
        <p:spPr>
          <a:xfrm>
            <a:off x="952500" y="895350"/>
            <a:ext cx="1638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60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rPr>
              <a:t>“11312”不是服务清单，而是把家医做成</a:t>
            </a:r>
            <a:r>
              <a:rPr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rPr>
              <a:t>主动健康管理入口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34434E-3BA3-4052-B49F-27730528300E}"/>
              </a:ext>
            </a:extLst>
          </p:cNvPr>
          <p:cNvSpPr>
            <a:spLocks noGrp="1"/>
          </p:cNvSpPr>
          <p:nvPr/>
        </p:nvSpPr>
        <p:spPr>
          <a:xfrm>
            <a:off x="952500" y="2114550"/>
            <a:ext cx="4238625" cy="6572250"/>
          </a:xfrm>
          <a:prstGeom prst="roundRect">
            <a:avLst>
              <a:gd name="adj" fmla="val 4944"/>
            </a:avLst>
          </a:prstGeom>
          <a:gradFill>
            <a:gsLst>
              <a:gs pos="0">
                <a:srgbClr val="FFF3E6"/>
              </a:gs>
              <a:gs pos="100000">
                <a:srgbClr val="FEFBF5"/>
              </a:gs>
            </a:gsLst>
            <a:lin ang="9300000"/>
          </a:gradFill>
          <a:ln w="9525">
            <a:solidFill>
              <a:srgbClr val="E7BD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A46C59-1148-4332-96B6-98A316C83910}"/>
              </a:ext>
            </a:extLst>
          </p:cNvPr>
          <p:cNvSpPr>
            <a:spLocks noGrp="1"/>
          </p:cNvSpPr>
          <p:nvPr/>
        </p:nvSpPr>
        <p:spPr>
          <a:xfrm>
            <a:off x="1219200" y="2362200"/>
            <a:ext cx="3705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425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01 · 信任与标准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50139-9233-4A0B-B585-F7C7826115DE}"/>
              </a:ext>
            </a:extLst>
          </p:cNvPr>
          <p:cNvSpPr>
            <a:spLocks noGrp="1"/>
          </p:cNvSpPr>
          <p:nvPr/>
        </p:nvSpPr>
        <p:spPr>
          <a:xfrm>
            <a:off x="1219200" y="2819400"/>
            <a:ext cx="37052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527"/>
          </a:bodyPr>
          <a:lstStyle>
            <a:defPPr algn="l">
              <a:defRPr sz="5025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5025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1 + 1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04D47D-4759-47B3-AA30-CF1DBAB75739}"/>
              </a:ext>
            </a:extLst>
          </p:cNvPr>
          <p:cNvSpPr>
            <a:spLocks noGrp="1"/>
          </p:cNvSpPr>
          <p:nvPr/>
        </p:nvSpPr>
        <p:spPr>
          <a:xfrm>
            <a:off x="1219200" y="3733800"/>
            <a:ext cx="37052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t>先回答：谁来管、如何管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3B76FE-6CEE-44FA-8D72-5112AF9364DA}"/>
              </a:ext>
            </a:extLst>
          </p:cNvPr>
          <p:cNvSpPr>
            <a:spLocks noGrp="1"/>
          </p:cNvSpPr>
          <p:nvPr/>
        </p:nvSpPr>
        <p:spPr>
          <a:xfrm>
            <a:off x="1219200" y="4591050"/>
            <a:ext cx="37052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50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以专业判断和统一路径，让家庭医生从一次问诊角色变为长期健康关系的责任人。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AC3C3F0-8A34-4989-B7EB-1259ED2A4AF4}"/>
              </a:ext>
            </a:extLst>
          </p:cNvPr>
          <p:cNvSpPr>
            <a:spLocks noGrp="1"/>
          </p:cNvSpPr>
          <p:nvPr/>
        </p:nvSpPr>
        <p:spPr>
          <a:xfrm>
            <a:off x="1219200" y="6877050"/>
            <a:ext cx="3705225" cy="628650"/>
          </a:xfrm>
          <a:prstGeom prst="roundRect">
            <a:avLst>
              <a:gd name="adj" fmla="val 19697"/>
            </a:avLst>
          </a:prstGeom>
          <a:solidFill>
            <a:srgbClr val="FFFFFF">
              <a:alpha val="82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60466E-FD5C-43AD-97AA-80E1841F0E03}"/>
              </a:ext>
            </a:extLst>
          </p:cNvPr>
          <p:cNvSpPr>
            <a:spLocks noGrp="1"/>
          </p:cNvSpPr>
          <p:nvPr/>
        </p:nvSpPr>
        <p:spPr>
          <a:xfrm>
            <a:off x="1381125" y="6934200"/>
            <a:ext cx="361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3E7FF3-5B54-4E30-879D-2A16BBE94B3A}"/>
              </a:ext>
            </a:extLst>
          </p:cNvPr>
          <p:cNvSpPr>
            <a:spLocks noGrp="1"/>
          </p:cNvSpPr>
          <p:nvPr/>
        </p:nvSpPr>
        <p:spPr>
          <a:xfrm>
            <a:off x="1838325" y="69437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65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双认证家庭医生团队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CF80284-1ADC-4461-8815-DC674A544992}"/>
              </a:ext>
            </a:extLst>
          </p:cNvPr>
          <p:cNvSpPr>
            <a:spLocks noGrp="1"/>
          </p:cNvSpPr>
          <p:nvPr/>
        </p:nvSpPr>
        <p:spPr>
          <a:xfrm>
            <a:off x="1219200" y="7658100"/>
            <a:ext cx="3705225" cy="628650"/>
          </a:xfrm>
          <a:prstGeom prst="roundRect">
            <a:avLst>
              <a:gd name="adj" fmla="val 19697"/>
            </a:avLst>
          </a:prstGeom>
          <a:solidFill>
            <a:srgbClr val="FFFFFF">
              <a:alpha val="82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309CCA-C4D5-43D7-8546-0E58BB559BCE}"/>
              </a:ext>
            </a:extLst>
          </p:cNvPr>
          <p:cNvSpPr>
            <a:spLocks noGrp="1"/>
          </p:cNvSpPr>
          <p:nvPr/>
        </p:nvSpPr>
        <p:spPr>
          <a:xfrm>
            <a:off x="1381125" y="7715250"/>
            <a:ext cx="361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6875F9-FEAF-4D3F-B505-3496967289EB}"/>
              </a:ext>
            </a:extLst>
          </p:cNvPr>
          <p:cNvSpPr>
            <a:spLocks noGrp="1"/>
          </p:cNvSpPr>
          <p:nvPr/>
        </p:nvSpPr>
        <p:spPr>
          <a:xfrm>
            <a:off x="1838325" y="77247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65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5A 标准服务路径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9713068-F80F-43A6-BA44-F9182D180FD9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6191250" cy="6572250"/>
          </a:xfrm>
          <a:prstGeom prst="roundRect">
            <a:avLst>
              <a:gd name="adj" fmla="val 4308"/>
            </a:avLst>
          </a:prstGeom>
          <a:gradFill>
            <a:gsLst>
              <a:gs pos="0">
                <a:srgbClr val="F08B42"/>
              </a:gs>
              <a:gs pos="100000">
                <a:srgbClr val="D96728"/>
              </a:gs>
            </a:gsLst>
            <a:lin ang="9300000"/>
          </a:gradFill>
          <a:ln w="9525">
            <a:solidFill>
              <a:srgbClr val="C75B2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6114CA3-5E80-42B4-B28D-2FB8EC83604C}"/>
              </a:ext>
            </a:extLst>
          </p:cNvPr>
          <p:cNvSpPr>
            <a:spLocks noGrp="1"/>
          </p:cNvSpPr>
          <p:nvPr/>
        </p:nvSpPr>
        <p:spPr>
          <a:xfrm>
            <a:off x="5962650" y="2266950"/>
            <a:ext cx="5886450" cy="6267450"/>
          </a:xfrm>
          <a:prstGeom prst="roundRect">
            <a:avLst>
              <a:gd name="adj" fmla="val 3236"/>
            </a:avLst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F1265E-016E-46D5-B60C-265D69353024}"/>
              </a:ext>
            </a:extLst>
          </p:cNvPr>
          <p:cNvSpPr>
            <a:spLocks noGrp="1"/>
          </p:cNvSpPr>
          <p:nvPr/>
        </p:nvSpPr>
        <p:spPr>
          <a:xfrm>
            <a:off x="6076950" y="23622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FFF3E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425" b="1">
                <a:solidFill>
                  <a:srgbClr val="FFF3E7"/>
                </a:solidFill>
                <a:latin typeface="Hiragino Sans GB"/>
                <a:ea typeface="Hiragino Sans GB"/>
                <a:cs typeface="Hiragino Sans GB"/>
              </a:defRPr>
            </a:pPr>
            <a:r>
              <a:t>02 · 持续健康运营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FDD4C9-3362-4BB6-A4B4-2449E4CEB504}"/>
              </a:ext>
            </a:extLst>
          </p:cNvPr>
          <p:cNvSpPr>
            <a:spLocks noGrp="1"/>
          </p:cNvSpPr>
          <p:nvPr/>
        </p:nvSpPr>
        <p:spPr>
          <a:xfrm>
            <a:off x="8763000" y="23622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275" b="0">
                <a:solidFill>
                  <a:srgbClr val="FFFFFF">
                    <a:alpha val="70000"/>
                  </a:srgbClr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275" b="0">
                <a:solidFill>
                  <a:srgbClr val="FFFFFF">
                    <a:alpha val="70000"/>
                  </a:srgbClr>
                </a:solidFill>
                <a:latin typeface="Hiragino Sans GB"/>
                <a:ea typeface="Hiragino Sans GB"/>
                <a:cs typeface="Hiragino Sans GB"/>
              </a:defRPr>
            </a:pPr>
            <a:r>
              <a:t>2023年家医会员近1300万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EDD5BB-4518-4B09-A904-D1A6F2C89B07}"/>
              </a:ext>
            </a:extLst>
          </p:cNvPr>
          <p:cNvSpPr>
            <a:spLocks noGrp="1"/>
          </p:cNvSpPr>
          <p:nvPr/>
        </p:nvSpPr>
        <p:spPr>
          <a:xfrm>
            <a:off x="6076950" y="2905125"/>
            <a:ext cx="5657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50" b="1">
                <a:solidFill>
                  <a:srgbClr val="FFF9F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850" b="1">
                <a:solidFill>
                  <a:srgbClr val="FFF9F1"/>
                </a:solidFill>
                <a:latin typeface="Hiragino Sans GB"/>
                <a:ea typeface="Hiragino Sans GB"/>
                <a:cs typeface="Hiragino Sans GB"/>
              </a:defRPr>
            </a:pPr>
            <a:r>
              <a:t>主动健康管理入口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0075F6-7BF8-4F18-A7B1-0429ED106997}"/>
              </a:ext>
            </a:extLst>
          </p:cNvPr>
          <p:cNvSpPr>
            <a:spLocks noGrp="1"/>
          </p:cNvSpPr>
          <p:nvPr/>
        </p:nvSpPr>
        <p:spPr>
          <a:xfrm>
            <a:off x="6076950" y="3533775"/>
            <a:ext cx="565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FFFFFF">
                    <a:alpha val="78000"/>
                  </a:srgbClr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500" b="0">
                <a:solidFill>
                  <a:srgbClr val="FFFFFF">
                    <a:alpha val="78000"/>
                  </a:srgbClr>
                </a:solidFill>
                <a:latin typeface="Hiragino Sans GB"/>
                <a:ea typeface="Hiragino Sans GB"/>
                <a:cs typeface="Hiragino Sans GB"/>
              </a:defRPr>
            </a:pPr>
            <a:r>
              <a:t>识别健康状态 → 制定服务计划 → 连续随访与升级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235BBE4-F7D7-4561-BAA2-17CC514E0FB1}"/>
              </a:ext>
            </a:extLst>
          </p:cNvPr>
          <p:cNvSpPr>
            <a:spLocks noGrp="1"/>
          </p:cNvSpPr>
          <p:nvPr/>
        </p:nvSpPr>
        <p:spPr>
          <a:xfrm>
            <a:off x="6076950" y="4305300"/>
            <a:ext cx="5657850" cy="1000125"/>
          </a:xfrm>
          <a:prstGeom prst="roundRect">
            <a:avLst>
              <a:gd name="adj" fmla="val 1238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1FC524-66E3-4F9B-BEC4-9AD784DD7A0A}"/>
              </a:ext>
            </a:extLst>
          </p:cNvPr>
          <p:cNvSpPr>
            <a:spLocks noGrp="1"/>
          </p:cNvSpPr>
          <p:nvPr/>
        </p:nvSpPr>
        <p:spPr>
          <a:xfrm>
            <a:off x="6238875" y="4457700"/>
            <a:ext cx="552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rgbClr val="F5A86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00" b="1">
                <a:solidFill>
                  <a:srgbClr val="F5A869"/>
                </a:solidFill>
                <a:latin typeface="Hiragino Sans GB"/>
                <a:ea typeface="Hiragino Sans GB"/>
                <a:cs typeface="Hiragino Sans GB"/>
              </a:defRPr>
            </a:pPr>
            <a: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114D40-7E5B-40A3-AE6D-2102B1D768EF}"/>
              </a:ext>
            </a:extLst>
          </p:cNvPr>
          <p:cNvSpPr>
            <a:spLocks noGrp="1"/>
          </p:cNvSpPr>
          <p:nvPr/>
        </p:nvSpPr>
        <p:spPr>
          <a:xfrm>
            <a:off x="6953250" y="4438650"/>
            <a:ext cx="449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1">
                <a:solidFill>
                  <a:srgbClr val="FFF9F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1">
                <a:solidFill>
                  <a:srgbClr val="FFF9F1"/>
                </a:solidFill>
                <a:latin typeface="Hiragino Sans GB"/>
                <a:ea typeface="Hiragino Sans GB"/>
                <a:cs typeface="Hiragino Sans GB"/>
              </a:defRPr>
            </a:pPr>
            <a:r>
              <a:t>亚健康人群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CF6211-0A66-46A4-84AC-E1CED8A8D35E}"/>
              </a:ext>
            </a:extLst>
          </p:cNvPr>
          <p:cNvSpPr>
            <a:spLocks noGrp="1"/>
          </p:cNvSpPr>
          <p:nvPr/>
        </p:nvSpPr>
        <p:spPr>
          <a:xfrm>
            <a:off x="6953250" y="4848225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FFFFFF">
                    <a:alpha val="76000"/>
                  </a:srgbClr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FFFFFF">
                    <a:alpha val="76000"/>
                  </a:srgbClr>
                </a:solidFill>
                <a:latin typeface="Hiragino Sans GB"/>
                <a:ea typeface="Hiragino Sans GB"/>
                <a:cs typeface="Hiragino Sans GB"/>
              </a:defRPr>
            </a:pPr>
            <a:r>
              <a:t>建档、体检解读与风险提示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24FD526-AC01-4D81-B857-77E1E20A92CE}"/>
              </a:ext>
            </a:extLst>
          </p:cNvPr>
          <p:cNvSpPr>
            <a:spLocks noGrp="1"/>
          </p:cNvSpPr>
          <p:nvPr/>
        </p:nvSpPr>
        <p:spPr>
          <a:xfrm>
            <a:off x="6076950" y="5543550"/>
            <a:ext cx="5657850" cy="1000125"/>
          </a:xfrm>
          <a:prstGeom prst="roundRect">
            <a:avLst>
              <a:gd name="adj" fmla="val 1238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D88890-4AFE-47BD-BB99-917746C8F43E}"/>
              </a:ext>
            </a:extLst>
          </p:cNvPr>
          <p:cNvSpPr>
            <a:spLocks noGrp="1"/>
          </p:cNvSpPr>
          <p:nvPr/>
        </p:nvSpPr>
        <p:spPr>
          <a:xfrm>
            <a:off x="6238875" y="5695950"/>
            <a:ext cx="552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rgbClr val="F5A86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00" b="1">
                <a:solidFill>
                  <a:srgbClr val="F5A869"/>
                </a:solidFill>
                <a:latin typeface="Hiragino Sans GB"/>
                <a:ea typeface="Hiragino Sans GB"/>
                <a:cs typeface="Hiragino Sans GB"/>
              </a:defRPr>
            </a:pPr>
            <a: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CA9CC3-8DE5-4B1E-9930-ACA9187EDA82}"/>
              </a:ext>
            </a:extLst>
          </p:cNvPr>
          <p:cNvSpPr>
            <a:spLocks noGrp="1"/>
          </p:cNvSpPr>
          <p:nvPr/>
        </p:nvSpPr>
        <p:spPr>
          <a:xfrm>
            <a:off x="6953250" y="5676900"/>
            <a:ext cx="449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1">
                <a:solidFill>
                  <a:srgbClr val="FFF9F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1">
                <a:solidFill>
                  <a:srgbClr val="FFF9F1"/>
                </a:solidFill>
                <a:latin typeface="Hiragino Sans GB"/>
                <a:ea typeface="Hiragino Sans GB"/>
                <a:cs typeface="Hiragino Sans GB"/>
              </a:defRPr>
            </a:pPr>
            <a:r>
              <a:t>慢病人群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DE4232-5FB3-4F9A-8923-7E872507FC1B}"/>
              </a:ext>
            </a:extLst>
          </p:cNvPr>
          <p:cNvSpPr>
            <a:spLocks noGrp="1"/>
          </p:cNvSpPr>
          <p:nvPr/>
        </p:nvSpPr>
        <p:spPr>
          <a:xfrm>
            <a:off x="6953250" y="6086475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FFFFFF">
                    <a:alpha val="76000"/>
                  </a:srgbClr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FFFFFF">
                    <a:alpha val="76000"/>
                  </a:srgbClr>
                </a:solidFill>
                <a:latin typeface="Hiragino Sans GB"/>
                <a:ea typeface="Hiragino Sans GB"/>
                <a:cs typeface="Hiragino Sans GB"/>
              </a:defRPr>
            </a:pPr>
            <a:r>
              <a:t>监测、预警与干预闭环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701140B-A425-4AFF-B501-37439681724B}"/>
              </a:ext>
            </a:extLst>
          </p:cNvPr>
          <p:cNvSpPr>
            <a:spLocks noGrp="1"/>
          </p:cNvSpPr>
          <p:nvPr/>
        </p:nvSpPr>
        <p:spPr>
          <a:xfrm>
            <a:off x="6076950" y="6781800"/>
            <a:ext cx="5657850" cy="1000125"/>
          </a:xfrm>
          <a:prstGeom prst="roundRect">
            <a:avLst>
              <a:gd name="adj" fmla="val 1238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3BA12D-44FC-4D2B-97C5-F32822BE707D}"/>
              </a:ext>
            </a:extLst>
          </p:cNvPr>
          <p:cNvSpPr>
            <a:spLocks noGrp="1"/>
          </p:cNvSpPr>
          <p:nvPr/>
        </p:nvSpPr>
        <p:spPr>
          <a:xfrm>
            <a:off x="6238875" y="6934200"/>
            <a:ext cx="552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rgbClr val="F5A86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00" b="1">
                <a:solidFill>
                  <a:srgbClr val="F5A869"/>
                </a:solidFill>
                <a:latin typeface="Hiragino Sans GB"/>
                <a:ea typeface="Hiragino Sans GB"/>
                <a:cs typeface="Hiragino Sans GB"/>
              </a:defRPr>
            </a:pPr>
            <a: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3D734F-FA62-4EE8-92D6-805A0D79257B}"/>
              </a:ext>
            </a:extLst>
          </p:cNvPr>
          <p:cNvSpPr>
            <a:spLocks noGrp="1"/>
          </p:cNvSpPr>
          <p:nvPr/>
        </p:nvSpPr>
        <p:spPr>
          <a:xfrm>
            <a:off x="6953250" y="6915150"/>
            <a:ext cx="449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1">
                <a:solidFill>
                  <a:srgbClr val="FFF9F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1">
                <a:solidFill>
                  <a:srgbClr val="FFF9F1"/>
                </a:solidFill>
                <a:latin typeface="Hiragino Sans GB"/>
                <a:ea typeface="Hiragino Sans GB"/>
                <a:cs typeface="Hiragino Sans GB"/>
              </a:defRPr>
            </a:pPr>
            <a:r>
              <a:t>疾病人群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CBA8B2-5A8C-48EF-A9C4-542EAA1361EE}"/>
              </a:ext>
            </a:extLst>
          </p:cNvPr>
          <p:cNvSpPr>
            <a:spLocks noGrp="1"/>
          </p:cNvSpPr>
          <p:nvPr/>
        </p:nvSpPr>
        <p:spPr>
          <a:xfrm>
            <a:off x="6953250" y="7324725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FFFFFF">
                    <a:alpha val="76000"/>
                  </a:srgbClr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FFFFFF">
                    <a:alpha val="76000"/>
                  </a:srgbClr>
                </a:solidFill>
                <a:latin typeface="Hiragino Sans GB"/>
                <a:ea typeface="Hiragino Sans GB"/>
                <a:cs typeface="Hiragino Sans GB"/>
              </a:defRPr>
            </a:pPr>
            <a:r>
              <a:t>诊前、诊中、诊后全病程管理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ECCA3CD-12D1-4972-9A53-B2DE59811BA5}"/>
              </a:ext>
            </a:extLst>
          </p:cNvPr>
          <p:cNvSpPr>
            <a:spLocks noGrp="1"/>
          </p:cNvSpPr>
          <p:nvPr/>
        </p:nvSpPr>
        <p:spPr>
          <a:xfrm>
            <a:off x="12620625" y="2114550"/>
            <a:ext cx="4714875" cy="657225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F0FAF6"/>
              </a:gs>
              <a:gs pos="100000">
                <a:srgbClr val="FCFEFD"/>
              </a:gs>
            </a:gsLst>
            <a:lin ang="9300000"/>
          </a:gradFill>
          <a:ln w="9525">
            <a:solidFill>
              <a:srgbClr val="BB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56059B-89B5-42F4-9B7D-B0187EACF1A0}"/>
              </a:ext>
            </a:extLst>
          </p:cNvPr>
          <p:cNvSpPr>
            <a:spLocks noGrp="1"/>
          </p:cNvSpPr>
          <p:nvPr/>
        </p:nvSpPr>
        <p:spPr>
          <a:xfrm>
            <a:off x="12887325" y="2362200"/>
            <a:ext cx="4181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387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425" b="1">
                <a:solidFill>
                  <a:srgbClr val="2387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dirty="0"/>
              <a:t>03 · </a:t>
            </a:r>
            <a:r>
              <a:rPr dirty="0" err="1"/>
              <a:t>稀缺供给调度</a:t>
            </a:r>
            <a:endParaRPr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DF72A9-42AB-4060-852F-1931A6F45AB9}"/>
              </a:ext>
            </a:extLst>
          </p:cNvPr>
          <p:cNvSpPr>
            <a:spLocks noGrp="1"/>
          </p:cNvSpPr>
          <p:nvPr/>
        </p:nvSpPr>
        <p:spPr>
          <a:xfrm>
            <a:off x="12887325" y="2819400"/>
            <a:ext cx="41814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527"/>
          </a:bodyPr>
          <a:lstStyle>
            <a:defPPr algn="l">
              <a:defRPr sz="5025" b="1">
                <a:solidFill>
                  <a:srgbClr val="2FA98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5025" b="1">
                <a:solidFill>
                  <a:srgbClr val="2FA9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dirty="0"/>
              <a:t>12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E52BA9-FFF5-4265-89DB-80EC9C4DD84C}"/>
              </a:ext>
            </a:extLst>
          </p:cNvPr>
          <p:cNvSpPr>
            <a:spLocks noGrp="1"/>
          </p:cNvSpPr>
          <p:nvPr/>
        </p:nvSpPr>
        <p:spPr>
          <a:xfrm>
            <a:off x="12887325" y="3733800"/>
            <a:ext cx="41814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t>把“需要时找不到”</a:t>
            </a:r>
          </a:p>
          <a:p>
            <a:pPr algn="l">
              <a:defRPr sz="2100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t>变成可履约能力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240969-D966-476F-8802-00BEDB4A0646}"/>
              </a:ext>
            </a:extLst>
          </p:cNvPr>
          <p:cNvSpPr>
            <a:spLocks noGrp="1"/>
          </p:cNvSpPr>
          <p:nvPr/>
        </p:nvSpPr>
        <p:spPr>
          <a:xfrm>
            <a:off x="12887325" y="4648200"/>
            <a:ext cx="41814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50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12项资源覆盖咨询、健康、慢病与全程就医四类关键需求。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8B90CFC-496A-490C-A0D0-7C1EFB62EA22}"/>
              </a:ext>
            </a:extLst>
          </p:cNvPr>
          <p:cNvSpPr>
            <a:spLocks noGrp="1"/>
          </p:cNvSpPr>
          <p:nvPr/>
        </p:nvSpPr>
        <p:spPr>
          <a:xfrm>
            <a:off x="12887325" y="6381750"/>
            <a:ext cx="1981200" cy="952500"/>
          </a:xfrm>
          <a:prstGeom prst="roundRect">
            <a:avLst>
              <a:gd name="adj" fmla="val 10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7E5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AA0370-A852-44D0-B903-5323A6DA1CF9}"/>
              </a:ext>
            </a:extLst>
          </p:cNvPr>
          <p:cNvSpPr>
            <a:spLocks noGrp="1"/>
          </p:cNvSpPr>
          <p:nvPr/>
        </p:nvSpPr>
        <p:spPr>
          <a:xfrm>
            <a:off x="12982575" y="6467475"/>
            <a:ext cx="1790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287A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200" b="1">
                <a:solidFill>
                  <a:srgbClr val="287A68"/>
                </a:solidFill>
                <a:latin typeface="Hiragino Sans GB"/>
                <a:ea typeface="Hiragino Sans GB"/>
                <a:cs typeface="Hiragino Sans GB"/>
              </a:defRPr>
            </a:pPr>
            <a:r>
              <a:t>医生咨询 · 2项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2017F6-E88B-4A33-9079-22892AE4B511}"/>
              </a:ext>
            </a:extLst>
          </p:cNvPr>
          <p:cNvSpPr>
            <a:spLocks noGrp="1"/>
          </p:cNvSpPr>
          <p:nvPr/>
        </p:nvSpPr>
        <p:spPr>
          <a:xfrm>
            <a:off x="12982575" y="6753225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0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家庭医生</a:t>
            </a:r>
          </a:p>
          <a:p>
            <a:pPr algn="l">
              <a:defRPr sz="10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名医专家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74F9CA7-3B38-4F50-8766-2581998E8ED8}"/>
              </a:ext>
            </a:extLst>
          </p:cNvPr>
          <p:cNvSpPr>
            <a:spLocks noGrp="1"/>
          </p:cNvSpPr>
          <p:nvPr/>
        </p:nvSpPr>
        <p:spPr>
          <a:xfrm>
            <a:off x="14963775" y="6381750"/>
            <a:ext cx="1981200" cy="952500"/>
          </a:xfrm>
          <a:prstGeom prst="roundRect">
            <a:avLst>
              <a:gd name="adj" fmla="val 10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7E5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3284877-976F-443F-9EF3-870D053E9B8D}"/>
              </a:ext>
            </a:extLst>
          </p:cNvPr>
          <p:cNvSpPr>
            <a:spLocks noGrp="1"/>
          </p:cNvSpPr>
          <p:nvPr/>
        </p:nvSpPr>
        <p:spPr>
          <a:xfrm>
            <a:off x="15059025" y="6467475"/>
            <a:ext cx="1790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287A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200" b="1">
                <a:solidFill>
                  <a:srgbClr val="287A68"/>
                </a:solidFill>
                <a:latin typeface="Hiragino Sans GB"/>
                <a:ea typeface="Hiragino Sans GB"/>
                <a:cs typeface="Hiragino Sans GB"/>
              </a:defRPr>
            </a:pPr>
            <a:r>
              <a:t>健康管理 · 3项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A8A5F0-C1B0-4EA0-9BD6-3B04F6CB93B3}"/>
              </a:ext>
            </a:extLst>
          </p:cNvPr>
          <p:cNvSpPr>
            <a:spLocks noGrp="1"/>
          </p:cNvSpPr>
          <p:nvPr/>
        </p:nvSpPr>
        <p:spPr>
          <a:xfrm>
            <a:off x="15059025" y="6753225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0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特色体检 · 健康检测</a:t>
            </a:r>
          </a:p>
          <a:p>
            <a:pPr algn="l">
              <a:defRPr sz="10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名医膏方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160B466-D690-4841-815F-CAA17EB172E4}"/>
              </a:ext>
            </a:extLst>
          </p:cNvPr>
          <p:cNvSpPr>
            <a:spLocks noGrp="1"/>
          </p:cNvSpPr>
          <p:nvPr/>
        </p:nvSpPr>
        <p:spPr>
          <a:xfrm>
            <a:off x="12887325" y="7448550"/>
            <a:ext cx="1981200" cy="952500"/>
          </a:xfrm>
          <a:prstGeom prst="roundRect">
            <a:avLst>
              <a:gd name="adj" fmla="val 10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7E5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77A57A-0061-4B7D-968B-BDA10C42B9AA}"/>
              </a:ext>
            </a:extLst>
          </p:cNvPr>
          <p:cNvSpPr>
            <a:spLocks noGrp="1"/>
          </p:cNvSpPr>
          <p:nvPr/>
        </p:nvSpPr>
        <p:spPr>
          <a:xfrm>
            <a:off x="12982575" y="7534275"/>
            <a:ext cx="1790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287A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200" b="1">
                <a:solidFill>
                  <a:srgbClr val="287A68"/>
                </a:solidFill>
                <a:latin typeface="Hiragino Sans GB"/>
                <a:ea typeface="Hiragino Sans GB"/>
                <a:cs typeface="Hiragino Sans GB"/>
              </a:defRPr>
            </a:pPr>
            <a:r>
              <a:t>慢病管理 · 3项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58D938-C0E8-44D3-97AB-F45D0874F21A}"/>
              </a:ext>
            </a:extLst>
          </p:cNvPr>
          <p:cNvSpPr>
            <a:spLocks noGrp="1"/>
          </p:cNvSpPr>
          <p:nvPr/>
        </p:nvSpPr>
        <p:spPr>
          <a:xfrm>
            <a:off x="12982575" y="7820025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0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21天训练营 · 数字化管理</a:t>
            </a:r>
          </a:p>
          <a:p>
            <a:pPr algn="l">
              <a:defRPr sz="10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饮食运动管理 · 用药服务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1850C8EE-7AFA-46A9-891F-833FD8ED5850}"/>
              </a:ext>
            </a:extLst>
          </p:cNvPr>
          <p:cNvSpPr>
            <a:spLocks noGrp="1"/>
          </p:cNvSpPr>
          <p:nvPr/>
        </p:nvSpPr>
        <p:spPr>
          <a:xfrm>
            <a:off x="14963775" y="7448550"/>
            <a:ext cx="1981200" cy="952500"/>
          </a:xfrm>
          <a:prstGeom prst="roundRect">
            <a:avLst>
              <a:gd name="adj" fmla="val 10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7E5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2133963-DB31-44A7-96C1-30DDF99D4345}"/>
              </a:ext>
            </a:extLst>
          </p:cNvPr>
          <p:cNvSpPr>
            <a:spLocks noGrp="1"/>
          </p:cNvSpPr>
          <p:nvPr/>
        </p:nvSpPr>
        <p:spPr>
          <a:xfrm>
            <a:off x="15059025" y="7534275"/>
            <a:ext cx="1790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287A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200" b="1">
                <a:solidFill>
                  <a:srgbClr val="287A68"/>
                </a:solidFill>
                <a:latin typeface="Hiragino Sans GB"/>
                <a:ea typeface="Hiragino Sans GB"/>
                <a:cs typeface="Hiragino Sans GB"/>
              </a:defRPr>
            </a:pPr>
            <a:r>
              <a:t>疾病全程 · 4项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597DCAF-528A-4FB2-A9D3-ED48D4F6F0EA}"/>
              </a:ext>
            </a:extLst>
          </p:cNvPr>
          <p:cNvSpPr>
            <a:spLocks noGrp="1"/>
          </p:cNvSpPr>
          <p:nvPr/>
        </p:nvSpPr>
        <p:spPr>
          <a:xfrm>
            <a:off x="15059025" y="7820025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0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门诊协助 · 就医陪诊</a:t>
            </a:r>
          </a:p>
          <a:p>
            <a:pPr algn="l">
              <a:defRPr sz="10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重疾专案 · 院后护理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1366CF4-1DBF-40AA-9187-46EA50B03E77}"/>
              </a:ext>
            </a:extLst>
          </p:cNvPr>
          <p:cNvSpPr>
            <a:spLocks noGrp="1"/>
          </p:cNvSpPr>
          <p:nvPr/>
        </p:nvSpPr>
        <p:spPr>
          <a:xfrm>
            <a:off x="5219700" y="5038725"/>
            <a:ext cx="552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315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→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AE969CE-4954-4F93-A520-A6ADDE51D9E9}"/>
              </a:ext>
            </a:extLst>
          </p:cNvPr>
          <p:cNvSpPr>
            <a:spLocks noGrp="1"/>
          </p:cNvSpPr>
          <p:nvPr/>
        </p:nvSpPr>
        <p:spPr>
          <a:xfrm>
            <a:off x="12039600" y="5038725"/>
            <a:ext cx="552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rgbClr val="2FA98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3150" b="1">
                <a:solidFill>
                  <a:srgbClr val="2FA98C"/>
                </a:solidFill>
                <a:latin typeface="Hiragino Sans GB"/>
                <a:ea typeface="Hiragino Sans GB"/>
                <a:cs typeface="Hiragino Sans GB"/>
              </a:defRPr>
            </a:pPr>
            <a:r>
              <a:t>→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3F5B879A-85D8-4EAD-8F1A-05819AA766EE}"/>
              </a:ext>
            </a:extLst>
          </p:cNvPr>
          <p:cNvSpPr>
            <a:spLocks noGrp="1"/>
          </p:cNvSpPr>
          <p:nvPr/>
        </p:nvSpPr>
        <p:spPr>
          <a:xfrm>
            <a:off x="952500" y="8905875"/>
            <a:ext cx="16383000" cy="666750"/>
          </a:xfrm>
          <a:prstGeom prst="roundRect">
            <a:avLst>
              <a:gd name="adj" fmla="val 20000"/>
            </a:avLst>
          </a:prstGeom>
          <a:solidFill>
            <a:srgbClr val="F5EEE5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AABC36C-5704-4C76-963C-5D53568E282B}"/>
              </a:ext>
            </a:extLst>
          </p:cNvPr>
          <p:cNvSpPr>
            <a:spLocks noGrp="1"/>
          </p:cNvSpPr>
          <p:nvPr/>
        </p:nvSpPr>
        <p:spPr>
          <a:xfrm>
            <a:off x="1381125" y="90106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50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保险支付与权益入口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CD1D3A9-81CB-4A89-85F6-85ED87F073E2}"/>
              </a:ext>
            </a:extLst>
          </p:cNvPr>
          <p:cNvSpPr>
            <a:spLocks noGrp="1"/>
          </p:cNvSpPr>
          <p:nvPr/>
        </p:nvSpPr>
        <p:spPr>
          <a:xfrm>
            <a:off x="4572000" y="9010650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725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→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B13F19C-1D4F-4952-B9D5-2196F83C0ACA}"/>
              </a:ext>
            </a:extLst>
          </p:cNvPr>
          <p:cNvSpPr>
            <a:spLocks noGrp="1"/>
          </p:cNvSpPr>
          <p:nvPr/>
        </p:nvSpPr>
        <p:spPr>
          <a:xfrm>
            <a:off x="5381625" y="90106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50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家庭医生持续管理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B561417-2FBE-4497-9830-2684EDD25E25}"/>
              </a:ext>
            </a:extLst>
          </p:cNvPr>
          <p:cNvSpPr>
            <a:spLocks noGrp="1"/>
          </p:cNvSpPr>
          <p:nvPr/>
        </p:nvSpPr>
        <p:spPr>
          <a:xfrm>
            <a:off x="8572500" y="9010650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725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→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47C5238-2845-4647-99CE-0E68E04C1ED1}"/>
              </a:ext>
            </a:extLst>
          </p:cNvPr>
          <p:cNvSpPr>
            <a:spLocks noGrp="1"/>
          </p:cNvSpPr>
          <p:nvPr/>
        </p:nvSpPr>
        <p:spPr>
          <a:xfrm>
            <a:off x="9382125" y="90106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500" b="1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资源调度与服务履约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69672CD-6616-4D2A-951F-8751569C25CD}"/>
              </a:ext>
            </a:extLst>
          </p:cNvPr>
          <p:cNvSpPr>
            <a:spLocks noGrp="1"/>
          </p:cNvSpPr>
          <p:nvPr/>
        </p:nvSpPr>
        <p:spPr>
          <a:xfrm>
            <a:off x="12573000" y="9010650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725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→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3FEFB8D-C6AC-41AD-ABB0-51D663393ACE}"/>
              </a:ext>
            </a:extLst>
          </p:cNvPr>
          <p:cNvSpPr>
            <a:spLocks noGrp="1"/>
          </p:cNvSpPr>
          <p:nvPr/>
        </p:nvSpPr>
        <p:spPr>
          <a:xfrm>
            <a:off x="13382625" y="90106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2387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500" b="1">
                <a:solidFill>
                  <a:srgbClr val="23876E"/>
                </a:solidFill>
                <a:latin typeface="Hiragino Sans GB"/>
                <a:ea typeface="Hiragino Sans GB"/>
                <a:cs typeface="Hiragino Sans GB"/>
              </a:defRPr>
            </a:pPr>
            <a:r>
              <a:t>留存、加保与客户价值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790BD4C-75A6-4B5B-AEA5-314B63AEA572}"/>
              </a:ext>
            </a:extLst>
          </p:cNvPr>
          <p:cNvSpPr>
            <a:spLocks noGrp="1"/>
          </p:cNvSpPr>
          <p:nvPr/>
        </p:nvSpPr>
        <p:spPr>
          <a:xfrm>
            <a:off x="16649700" y="96964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800" b="1">
                <a:solidFill>
                  <a:srgbClr val="8B7A6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800" b="1">
                <a:solidFill>
                  <a:srgbClr val="8B7A66"/>
                </a:solidFill>
                <a:latin typeface="Hiragino Sans GB"/>
                <a:ea typeface="Hiragino Sans GB"/>
                <a:cs typeface="Hiragino Sans GB"/>
              </a:defRPr>
            </a:pPr>
            <a: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21955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DC79311-B29A-48EA-BB19-F1475FC8F41A}"/>
              </a:ext>
            </a:extLst>
          </p:cNvPr>
          <p:cNvSpPr>
            <a:spLocks noGrp="1"/>
          </p:cNvSpPr>
          <p:nvPr/>
        </p:nvSpPr>
        <p:spPr>
          <a:xfrm>
            <a:off x="952500" y="609600"/>
            <a:ext cx="361950" cy="38100"/>
          </a:xfrm>
          <a:prstGeom prst="roundRect">
            <a:avLst>
              <a:gd name="adj" fmla="val 50000"/>
            </a:avLst>
          </a:prstGeom>
          <a:solidFill>
            <a:srgbClr val="E0742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328502-9E7D-4CF5-A8EE-DAFFEB18F453}"/>
              </a:ext>
            </a:extLst>
          </p:cNvPr>
          <p:cNvSpPr>
            <a:spLocks noGrp="1"/>
          </p:cNvSpPr>
          <p:nvPr/>
        </p:nvSpPr>
        <p:spPr>
          <a:xfrm>
            <a:off x="1447800" y="457200"/>
            <a:ext cx="1428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defRPr>
            </a:pPr>
            <a:r>
              <a:t>医院合作 · 真实现场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C9BBFF-9610-452B-B8F3-6085D3936108}"/>
              </a:ext>
            </a:extLst>
          </p:cNvPr>
          <p:cNvSpPr>
            <a:spLocks noGrp="1"/>
          </p:cNvSpPr>
          <p:nvPr/>
        </p:nvSpPr>
        <p:spPr>
          <a:xfrm>
            <a:off x="952500" y="895350"/>
            <a:ext cx="1638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25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525"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rPr>
              <a:t>从医院入口到接待服务，</a:t>
            </a:r>
            <a:r>
              <a:rPr b="1">
                <a:solidFill>
                  <a:srgbClr val="E0742F"/>
                </a:solidFill>
                <a:latin typeface="Hiragino Sans GB"/>
                <a:ea typeface="Hiragino Sans GB"/>
                <a:cs typeface="Hiragino Sans GB"/>
              </a:rPr>
              <a:t>合作在现场发生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F470E9-54DF-494D-B2B7-C550461F30AB}"/>
              </a:ext>
            </a:extLst>
          </p:cNvPr>
          <p:cNvSpPr>
            <a:spLocks noGrp="1"/>
          </p:cNvSpPr>
          <p:nvPr/>
        </p:nvSpPr>
        <p:spPr>
          <a:xfrm>
            <a:off x="952500" y="1609725"/>
            <a:ext cx="1638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650" b="0"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defRPr>
            </a:pPr>
            <a:r>
              <a:t>六张原始照片依次呈现医院场地、项目启用、院内接待与孕产家庭触达；照片来自不同合作项目。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8B618B-C244-4011-BAED-0CFC565498E1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5334000" cy="3276600"/>
          </a:xfrm>
          <a:prstGeom prst="roundRect">
            <a:avLst>
              <a:gd name="adj" fmla="val 4942"/>
            </a:avLst>
          </a:prstGeom>
          <a:solidFill>
            <a:srgbClr val="FFFFFF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31244E-420C-4C6B-B2F1-F4227A2ECA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88" b="3888"/>
          <a:stretch>
            <a:fillRect/>
          </a:stretch>
        </p:blipFill>
        <p:spPr>
          <a:xfrm>
            <a:off x="962025" y="2257425"/>
            <a:ext cx="5314950" cy="2752725"/>
          </a:xfrm>
          <a:prstGeom prst="roundRect">
            <a:avLst>
              <a:gd name="adj" fmla="val 5190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A99154-8823-4A4C-9BFF-5C333813F838}"/>
              </a:ext>
            </a:extLst>
          </p:cNvPr>
          <p:cNvSpPr>
            <a:spLocks noGrp="1"/>
          </p:cNvSpPr>
          <p:nvPr/>
        </p:nvSpPr>
        <p:spPr>
          <a:xfrm>
            <a:off x="962025" y="5010150"/>
            <a:ext cx="5314950" cy="504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5ADC78-A0E6-435B-A025-04322495A489}"/>
              </a:ext>
            </a:extLst>
          </p:cNvPr>
          <p:cNvSpPr>
            <a:spLocks noGrp="1"/>
          </p:cNvSpPr>
          <p:nvPr/>
        </p:nvSpPr>
        <p:spPr>
          <a:xfrm>
            <a:off x="1085850" y="5057775"/>
            <a:ext cx="506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275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C75B22"/>
                </a:solidFill>
                <a:latin typeface="Hiragino Sans GB"/>
                <a:ea typeface="Hiragino Sans GB"/>
                <a:cs typeface="Hiragino Sans GB"/>
              </a:rPr>
              <a:t>医院入口</a:t>
            </a:r>
            <a:r>
              <a:rPr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rPr>
              <a:t>｜深圳市龙华区妇幼保健院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4963316-E544-44E2-AF28-69307833EC60}"/>
              </a:ext>
            </a:extLst>
          </p:cNvPr>
          <p:cNvSpPr>
            <a:spLocks noGrp="1"/>
          </p:cNvSpPr>
          <p:nvPr/>
        </p:nvSpPr>
        <p:spPr>
          <a:xfrm>
            <a:off x="6477000" y="2247900"/>
            <a:ext cx="5334000" cy="3276600"/>
          </a:xfrm>
          <a:prstGeom prst="roundRect">
            <a:avLst>
              <a:gd name="adj" fmla="val 4942"/>
            </a:avLst>
          </a:prstGeom>
          <a:solidFill>
            <a:srgbClr val="FFFFFF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A9CDCF-B9D2-4825-B0D9-EE022F48F166}"/>
              </a:ext>
            </a:extLst>
          </p:cNvPr>
          <p:cNvSpPr>
            <a:spLocks noGrp="1"/>
          </p:cNvSpPr>
          <p:nvPr/>
        </p:nvSpPr>
        <p:spPr>
          <a:xfrm>
            <a:off x="6486525" y="2257425"/>
            <a:ext cx="5314950" cy="2752725"/>
          </a:xfrm>
          <a:prstGeom prst="rect">
            <a:avLst/>
          </a:prstGeom>
          <a:solidFill>
            <a:srgbClr val="F7F1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7DB620-2AA9-41D4-98DD-E5CDB1630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12135" y="2257425"/>
            <a:ext cx="2063729" cy="2752725"/>
          </a:xfrm>
          <a:prstGeom prst="roundRect">
            <a:avLst>
              <a:gd name="adj" fmla="val 5190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F4E0A9E-8D6F-48C8-BD34-25CECB76E139}"/>
              </a:ext>
            </a:extLst>
          </p:cNvPr>
          <p:cNvSpPr>
            <a:spLocks noGrp="1"/>
          </p:cNvSpPr>
          <p:nvPr/>
        </p:nvSpPr>
        <p:spPr>
          <a:xfrm>
            <a:off x="6486525" y="5010150"/>
            <a:ext cx="5314950" cy="504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4AE905-7518-4032-A7F3-69286287D290}"/>
              </a:ext>
            </a:extLst>
          </p:cNvPr>
          <p:cNvSpPr>
            <a:spLocks noGrp="1"/>
          </p:cNvSpPr>
          <p:nvPr/>
        </p:nvSpPr>
        <p:spPr>
          <a:xfrm>
            <a:off x="6610350" y="5057775"/>
            <a:ext cx="506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275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C75B22"/>
                </a:solidFill>
                <a:latin typeface="Hiragino Sans GB"/>
                <a:ea typeface="Hiragino Sans GB"/>
                <a:cs typeface="Hiragino Sans GB"/>
              </a:rPr>
              <a:t>院内服务点</a:t>
            </a:r>
            <a:r>
              <a:rPr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rPr>
              <a:t>｜特需门诊护士站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7B88EAD-E1A9-4DEB-B4EE-13B71B1D8253}"/>
              </a:ext>
            </a:extLst>
          </p:cNvPr>
          <p:cNvSpPr>
            <a:spLocks noGrp="1"/>
          </p:cNvSpPr>
          <p:nvPr/>
        </p:nvSpPr>
        <p:spPr>
          <a:xfrm>
            <a:off x="12001500" y="2247900"/>
            <a:ext cx="5334000" cy="3276600"/>
          </a:xfrm>
          <a:prstGeom prst="roundRect">
            <a:avLst>
              <a:gd name="adj" fmla="val 4942"/>
            </a:avLst>
          </a:prstGeom>
          <a:solidFill>
            <a:srgbClr val="FFFFFF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B52BB0-CD2E-4A15-82E5-90B79E5A59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277" b="11277"/>
          <a:stretch>
            <a:fillRect/>
          </a:stretch>
        </p:blipFill>
        <p:spPr>
          <a:xfrm>
            <a:off x="12011025" y="2257425"/>
            <a:ext cx="5314950" cy="2752725"/>
          </a:xfrm>
          <a:prstGeom prst="roundRect">
            <a:avLst>
              <a:gd name="adj" fmla="val 5190"/>
            </a:avLst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1364E8E-AFA2-4C29-8721-5E445D3FE8B2}"/>
              </a:ext>
            </a:extLst>
          </p:cNvPr>
          <p:cNvSpPr>
            <a:spLocks noGrp="1"/>
          </p:cNvSpPr>
          <p:nvPr/>
        </p:nvSpPr>
        <p:spPr>
          <a:xfrm>
            <a:off x="12011025" y="5010150"/>
            <a:ext cx="5314950" cy="504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B968E8-750E-41AB-9FA7-EA573C6034B0}"/>
              </a:ext>
            </a:extLst>
          </p:cNvPr>
          <p:cNvSpPr>
            <a:spLocks noGrp="1"/>
          </p:cNvSpPr>
          <p:nvPr/>
        </p:nvSpPr>
        <p:spPr>
          <a:xfrm>
            <a:off x="12134850" y="5057775"/>
            <a:ext cx="506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275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C75B22"/>
                </a:solidFill>
                <a:latin typeface="Hiragino Sans GB"/>
                <a:ea typeface="Hiragino Sans GB"/>
                <a:cs typeface="Hiragino Sans GB"/>
              </a:rPr>
              <a:t>项目启用</a:t>
            </a:r>
            <a:r>
              <a:rPr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rPr>
              <a:t>｜诸暨市妇幼保健院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E2EC873-9917-4BA3-B6DA-5975A7F43EA6}"/>
              </a:ext>
            </a:extLst>
          </p:cNvPr>
          <p:cNvSpPr>
            <a:spLocks noGrp="1"/>
          </p:cNvSpPr>
          <p:nvPr/>
        </p:nvSpPr>
        <p:spPr>
          <a:xfrm>
            <a:off x="952500" y="5695950"/>
            <a:ext cx="5334000" cy="3276600"/>
          </a:xfrm>
          <a:prstGeom prst="roundRect">
            <a:avLst>
              <a:gd name="adj" fmla="val 4942"/>
            </a:avLst>
          </a:prstGeom>
          <a:solidFill>
            <a:srgbClr val="FFFFFF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9EDEFC0-7E6E-4D2E-8FBA-52BAA48A1E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132" b="11132"/>
          <a:stretch>
            <a:fillRect/>
          </a:stretch>
        </p:blipFill>
        <p:spPr>
          <a:xfrm>
            <a:off x="962025" y="5705475"/>
            <a:ext cx="5314950" cy="2752725"/>
          </a:xfrm>
          <a:prstGeom prst="roundRect">
            <a:avLst>
              <a:gd name="adj" fmla="val 5190"/>
            </a:avLst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89A528A-25F9-40ED-B052-E7C1BB39915C}"/>
              </a:ext>
            </a:extLst>
          </p:cNvPr>
          <p:cNvSpPr>
            <a:spLocks noGrp="1"/>
          </p:cNvSpPr>
          <p:nvPr/>
        </p:nvSpPr>
        <p:spPr>
          <a:xfrm>
            <a:off x="962025" y="8458200"/>
            <a:ext cx="5314950" cy="504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4A8D69-0D43-44FD-B1C8-B28110FAD1D4}"/>
              </a:ext>
            </a:extLst>
          </p:cNvPr>
          <p:cNvSpPr>
            <a:spLocks noGrp="1"/>
          </p:cNvSpPr>
          <p:nvPr/>
        </p:nvSpPr>
        <p:spPr>
          <a:xfrm>
            <a:off x="1085850" y="8505825"/>
            <a:ext cx="506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275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C75B22"/>
                </a:solidFill>
                <a:latin typeface="Hiragino Sans GB"/>
                <a:ea typeface="Hiragino Sans GB"/>
                <a:cs typeface="Hiragino Sans GB"/>
              </a:rPr>
              <a:t>院内接待</a:t>
            </a:r>
            <a:r>
              <a:rPr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rPr>
              <a:t>｜杭州市妇产科医院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2957F15-8FA1-41FD-85AA-875C67FB8AF1}"/>
              </a:ext>
            </a:extLst>
          </p:cNvPr>
          <p:cNvSpPr>
            <a:spLocks noGrp="1"/>
          </p:cNvSpPr>
          <p:nvPr/>
        </p:nvSpPr>
        <p:spPr>
          <a:xfrm>
            <a:off x="6477000" y="5695950"/>
            <a:ext cx="5334000" cy="3276600"/>
          </a:xfrm>
          <a:prstGeom prst="roundRect">
            <a:avLst>
              <a:gd name="adj" fmla="val 4942"/>
            </a:avLst>
          </a:prstGeom>
          <a:solidFill>
            <a:srgbClr val="FFFFFF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374DFE-EF8C-42CF-A7FB-33CAA27DB9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132" b="11132"/>
          <a:stretch>
            <a:fillRect/>
          </a:stretch>
        </p:blipFill>
        <p:spPr>
          <a:xfrm>
            <a:off x="6486525" y="5705475"/>
            <a:ext cx="5314950" cy="2752725"/>
          </a:xfrm>
          <a:prstGeom prst="roundRect">
            <a:avLst>
              <a:gd name="adj" fmla="val 5190"/>
            </a:avLst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A286F95-6880-42C0-BE55-166E0E5CE8D2}"/>
              </a:ext>
            </a:extLst>
          </p:cNvPr>
          <p:cNvSpPr>
            <a:spLocks noGrp="1"/>
          </p:cNvSpPr>
          <p:nvPr/>
        </p:nvSpPr>
        <p:spPr>
          <a:xfrm>
            <a:off x="6486525" y="8458200"/>
            <a:ext cx="5314950" cy="504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DA7706-F1C0-4491-B001-3BBBCF6CCB87}"/>
              </a:ext>
            </a:extLst>
          </p:cNvPr>
          <p:cNvSpPr>
            <a:spLocks noGrp="1"/>
          </p:cNvSpPr>
          <p:nvPr/>
        </p:nvSpPr>
        <p:spPr>
          <a:xfrm>
            <a:off x="6610350" y="8505825"/>
            <a:ext cx="506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275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C75B22"/>
                </a:solidFill>
                <a:latin typeface="Hiragino Sans GB"/>
                <a:ea typeface="Hiragino Sans GB"/>
                <a:cs typeface="Hiragino Sans GB"/>
              </a:rPr>
              <a:t>家庭触达</a:t>
            </a:r>
            <a:r>
              <a:rPr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rPr>
              <a:t>｜现场体验与互动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8DC0AFD-5C34-43FA-AA8C-42469AABB0AD}"/>
              </a:ext>
            </a:extLst>
          </p:cNvPr>
          <p:cNvSpPr>
            <a:spLocks noGrp="1"/>
          </p:cNvSpPr>
          <p:nvPr/>
        </p:nvSpPr>
        <p:spPr>
          <a:xfrm>
            <a:off x="12001500" y="5695950"/>
            <a:ext cx="5334000" cy="3276600"/>
          </a:xfrm>
          <a:prstGeom prst="roundRect">
            <a:avLst>
              <a:gd name="adj" fmla="val 4942"/>
            </a:avLst>
          </a:prstGeom>
          <a:solidFill>
            <a:srgbClr val="FFFFFF"/>
          </a:solidFill>
          <a:ln w="9525">
            <a:solidFill>
              <a:srgbClr val="E2D2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3D8B568-7150-4409-88CA-2CBC994543A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2610" b="12610"/>
          <a:stretch>
            <a:fillRect/>
          </a:stretch>
        </p:blipFill>
        <p:spPr>
          <a:xfrm>
            <a:off x="12011025" y="5705475"/>
            <a:ext cx="5314950" cy="2752725"/>
          </a:xfrm>
          <a:prstGeom prst="roundRect">
            <a:avLst>
              <a:gd name="adj" fmla="val 5190"/>
            </a:avLst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6EBEC27-1B4F-4AE6-8A6E-17375250D924}"/>
              </a:ext>
            </a:extLst>
          </p:cNvPr>
          <p:cNvSpPr>
            <a:spLocks noGrp="1"/>
          </p:cNvSpPr>
          <p:nvPr/>
        </p:nvSpPr>
        <p:spPr>
          <a:xfrm>
            <a:off x="12011025" y="8458200"/>
            <a:ext cx="5314950" cy="504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0F0852-A6EC-4A1D-93DA-3EB60C17770F}"/>
              </a:ext>
            </a:extLst>
          </p:cNvPr>
          <p:cNvSpPr>
            <a:spLocks noGrp="1"/>
          </p:cNvSpPr>
          <p:nvPr/>
        </p:nvSpPr>
        <p:spPr>
          <a:xfrm>
            <a:off x="12134850" y="8505825"/>
            <a:ext cx="506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275" b="0">
                <a:solidFill>
                  <a:srgbClr val="332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C75B22"/>
                </a:solidFill>
                <a:latin typeface="Hiragino Sans GB"/>
                <a:ea typeface="Hiragino Sans GB"/>
                <a:cs typeface="Hiragino Sans GB"/>
              </a:rPr>
              <a:t>驻点服务</a:t>
            </a:r>
            <a:r>
              <a:rPr>
                <a:solidFill>
                  <a:srgbClr val="5A4B3B"/>
                </a:solidFill>
                <a:latin typeface="Hiragino Sans GB"/>
                <a:ea typeface="Hiragino Sans GB"/>
                <a:cs typeface="Hiragino Sans GB"/>
              </a:rPr>
              <a:t>｜服务人员与监测设备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DDE2CF-005B-411C-96EA-7DE2D7E0CD0F}"/>
              </a:ext>
            </a:extLst>
          </p:cNvPr>
          <p:cNvSpPr>
            <a:spLocks noGrp="1"/>
          </p:cNvSpPr>
          <p:nvPr/>
        </p:nvSpPr>
        <p:spPr>
          <a:xfrm>
            <a:off x="964623" y="9486900"/>
            <a:ext cx="1514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8B7A6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050" b="0">
                <a:solidFill>
                  <a:srgbClr val="8B7A6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dirty="0" err="1"/>
              <a:t>图片来源：京柏医疗《天使医生业务介绍》原始</a:t>
            </a:r>
            <a:r>
              <a:rPr dirty="0"/>
              <a:t> PPT </a:t>
            </a:r>
            <a:r>
              <a:rPr dirty="0" err="1"/>
              <a:t>第</a:t>
            </a:r>
            <a:r>
              <a:rPr dirty="0"/>
              <a:t> 52、55、56、58 </a:t>
            </a:r>
            <a:r>
              <a:rPr dirty="0" err="1"/>
              <a:t>页；不同照片对应不同合作项目</a:t>
            </a:r>
            <a:r>
              <a:rPr dirty="0"/>
              <a:t>。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EF57C7-1075-456A-9D19-14D2B04230CC}"/>
              </a:ext>
            </a:extLst>
          </p:cNvPr>
          <p:cNvSpPr>
            <a:spLocks noGrp="1"/>
          </p:cNvSpPr>
          <p:nvPr/>
        </p:nvSpPr>
        <p:spPr>
          <a:xfrm>
            <a:off x="16649700" y="96964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800" b="1">
                <a:solidFill>
                  <a:srgbClr val="8B7A6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800" b="1">
                <a:solidFill>
                  <a:srgbClr val="8B7A66"/>
                </a:solidFill>
                <a:latin typeface="Hiragino Sans GB"/>
                <a:ea typeface="Hiragino Sans GB"/>
                <a:cs typeface="Hiragino Sans GB"/>
              </a:defRPr>
            </a:pPr>
            <a: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2480332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Microsoft Macintosh PowerPoint</Application>
  <DocSecurity>0</DocSecurity>
  <PresentationFormat>Custom</PresentationFormat>
  <Paragraphs>117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Hiragino Sans GB</vt:lpstr>
      <vt:lpstr>Aptos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立勋 张</cp:lastModifiedBy>
  <cp:revision>2</cp:revision>
  <dcterms:created xsi:type="dcterms:W3CDTF">2026-10-10T02:57:30Z</dcterms:created>
  <dcterms:modified xsi:type="dcterms:W3CDTF">2026-10-10T03:53:04Z</dcterms:modified>
</cp:coreProperties>
</file>